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103120"/>
            <a:ext cx="10881360" cy="1005840"/>
          </a:xfrm>
          <a:prstGeom prst="rect">
            <a:avLst/>
          </a:prstGeom>
          <a:noFill/>
          <a:ln/>
        </p:spPr>
        <p:txBody>
          <a:bodyPr wrap="square" lIns="0" tIns="0" rIns="0" bIns="0" rtlCol="0" anchor="ctr"/>
          <a:lstStyle/>
          <a:p>
            <a:pPr indent="0" marL="0">
              <a:buNone/>
            </a:pPr>
            <a:r>
              <a:rPr lang="en-US" sz="4400" b="1" dirty="0">
                <a:solidFill>
                  <a:srgbClr val="0E6B5C"/>
                </a:solidFill>
                <a:latin typeface="Calibri" pitchFamily="34" charset="0"/>
                <a:ea typeface="Calibri" pitchFamily="34" charset="-122"/>
                <a:cs typeface="Calibri" pitchFamily="34" charset="-120"/>
              </a:rPr>
              <a:t>Capstone Project</a:t>
            </a:r>
            <a:endParaRPr lang="en-US" sz="4400" dirty="0"/>
          </a:p>
        </p:txBody>
      </p:sp>
      <p:sp>
        <p:nvSpPr>
          <p:cNvPr id="3" name="Text 1"/>
          <p:cNvSpPr/>
          <p:nvPr/>
        </p:nvSpPr>
        <p:spPr>
          <a:xfrm>
            <a:off x="640080" y="2971800"/>
            <a:ext cx="10881360" cy="548640"/>
          </a:xfrm>
          <a:prstGeom prst="rect">
            <a:avLst/>
          </a:prstGeom>
          <a:noFill/>
          <a:ln/>
        </p:spPr>
        <p:txBody>
          <a:bodyPr wrap="square" lIns="0" tIns="0" rIns="0" bIns="0" rtlCol="0" anchor="ctr"/>
          <a:lstStyle/>
          <a:p>
            <a:pPr indent="0" marL="0">
              <a:buNone/>
            </a:pPr>
            <a:r>
              <a:rPr lang="en-US" sz="2000" dirty="0">
                <a:solidFill>
                  <a:srgbClr val="595959"/>
                </a:solidFill>
                <a:latin typeface="Calibri" pitchFamily="34" charset="0"/>
                <a:ea typeface="Calibri" pitchFamily="34" charset="-122"/>
                <a:cs typeface="Calibri" pitchFamily="34" charset="-120"/>
              </a:rPr>
              <a:t>PRESENTATION</a:t>
            </a:r>
            <a:endParaRPr lang="en-US" sz="20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indent="0" marL="0">
              <a:buNone/>
            </a:pPr>
            <a:r>
              <a:rPr lang="en-US" sz="1600" i="1" dirty="0">
                <a:solidFill>
                  <a:srgbClr val="595959"/>
                </a:solidFill>
                <a:latin typeface="Calibri" pitchFamily="34" charset="0"/>
                <a:ea typeface="Calibri" pitchFamily="34" charset="-122"/>
                <a:cs typeface="Calibri" pitchFamily="34" charset="-120"/>
              </a:rPr>
              <a:t>Predicting Band Gaps of SnSe-Based Materials from Composition</a:t>
            </a:r>
            <a:endParaRPr lang="en-US" sz="1600" dirty="0"/>
          </a:p>
        </p:txBody>
      </p:sp>
      <p:sp>
        <p:nvSpPr>
          <p:cNvPr id="5" name="Text 3"/>
          <p:cNvSpPr/>
          <p:nvPr/>
        </p:nvSpPr>
        <p:spPr>
          <a:xfrm>
            <a:off x="640080" y="5120640"/>
            <a:ext cx="10881360" cy="457200"/>
          </a:xfrm>
          <a:prstGeom prst="rect">
            <a:avLst/>
          </a:prstGeom>
          <a:noFill/>
          <a:ln/>
        </p:spPr>
        <p:txBody>
          <a:bodyPr wrap="square" lIns="0" tIns="0" rIns="0" bIns="0" rtlCol="0" anchor="ctr"/>
          <a:lstStyle/>
          <a:p>
            <a:pPr indent="0" marL="0">
              <a:buNone/>
            </a:pPr>
            <a:r>
              <a:rPr lang="en-US" sz="1600" i="1" dirty="0">
                <a:solidFill>
                  <a:srgbClr val="4A5D68"/>
                </a:solidFill>
                <a:latin typeface="Calibri" pitchFamily="34" charset="0"/>
                <a:ea typeface="Calibri" pitchFamily="34" charset="-122"/>
                <a:cs typeface="Calibri" pitchFamily="34" charset="-120"/>
              </a:rPr>
              <a:t>Group [TBD] | Predicting Band Gaps of SnSe-Based Materials from Composition | Presenter: TBD</a:t>
            </a:r>
            <a:endParaRPr lang="en-US" sz="1600" dirty="0"/>
          </a:p>
        </p:txBody>
      </p:sp>
      <p:sp>
        <p:nvSpPr>
          <p:cNvPr id="6"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7"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1 / 7</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Problem &amp; Motivation</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7" name="Shape 5"/>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8" name="Text 6"/>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Can a composition-only model predict whether a Sn-Se-based compound is a metal or an insulator, and its band gap?</a:t>
            </a:r>
            <a:endParaRPr lang="en-US" sz="1200" dirty="0"/>
          </a:p>
        </p:txBody>
      </p:sp>
      <p:sp>
        <p:nvSpPr>
          <p:cNvPr id="9" name="Text 7"/>
          <p:cNvSpPr/>
          <p:nvPr/>
        </p:nvSpPr>
        <p:spPr>
          <a:xfrm>
            <a:off x="685800" y="1965960"/>
            <a:ext cx="10789920" cy="4343400"/>
          </a:xfrm>
          <a:prstGeom prst="rect">
            <a:avLst/>
          </a:prstGeom>
          <a:noFill/>
          <a:ln/>
        </p:spPr>
        <p:txBody>
          <a:bodyPr wrap="square" lIns="0" tIns="0" rIns="0" bIns="0" rtlCol="0" anchor="t"/>
          <a:lstStyle/>
          <a:p>
            <a:pPr indent="0" marL="0">
              <a:buNone/>
            </a:pPr>
            <a:r>
              <a:rPr lang="en-US" sz="1600" i="1" dirty="0">
                <a:solidFill>
                  <a:srgbClr val="4A5D68"/>
                </a:solidFill>
                <a:latin typeface="Calibri" pitchFamily="34" charset="0"/>
                <a:ea typeface="Calibri" pitchFamily="34" charset="-122"/>
                <a:cs typeface="Calibri" pitchFamily="34" charset="-120"/>
              </a:rPr>
              <a:t>SnSe is one of the best thermoelectric materials found in the last ten years — it turns heat into electricity efficiently. Scientists try adding small amounts of other elements, such as lead, sulfur, or silver, to make it work even better. But testing every possible combination in the lab, or with expensive supercomputer calculations (DFT), takes a lot of time and money. A quick computer model that only needs the chemical formula can act as a first filter — it tells scientists which combinations are worth testing further, before they spend time and money on slower methods. This project builds two such models: one that predicts metal-or-insulator, and one that predicts the band gap size for insulators.</a:t>
            </a:r>
            <a:endParaRPr lang="en-US" sz="1600" dirty="0"/>
          </a:p>
        </p:txBody>
      </p:sp>
      <p:sp>
        <p:nvSpPr>
          <p:cNvPr id="10" name="Text 8"/>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1" name="Text 9"/>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Data</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11247120" cy="914400"/>
        </p:xfrm>
        <a:graphic>
          <a:graphicData uri="http://schemas.openxmlformats.org/drawingml/2006/table">
            <a:tbl>
              <a:tblPr/>
              <a:tblGrid>
                <a:gridCol w="2926080"/>
                <a:gridCol w="8321040"/>
              </a:tblGrid>
              <a:tr h="502920">
                <a:tc>
                  <a:txBody>
                    <a:bodyPr/>
                    <a:lstStyle/>
                    <a:p>
                      <a:r>
                        <a:t>Source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The Materials Project (materialsproject.org), queried via mp-api</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Size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220 raw entries → 192 unique compounds after cleaning</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Features</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132 composition-derived descriptors (matminer, Magpie preset)</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Target</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band_gap (eV)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Cleaning needed</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De-duplicated by formula; dropped missing/failed-featurization rows</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Shape 3"/>
          <p:cNvSpPr/>
          <p:nvPr/>
        </p:nvSpPr>
        <p:spPr>
          <a:xfrm>
            <a:off x="457200" y="4434840"/>
            <a:ext cx="11247120" cy="1874520"/>
          </a:xfrm>
          <a:prstGeom prst="rect">
            <a:avLst/>
          </a:prstGeom>
          <a:solidFill>
            <a:srgbClr val="E8F3F0"/>
          </a:solidFill>
          <a:ln w="9525">
            <a:solidFill>
              <a:srgbClr val="BFBFBF"/>
            </a:solidFill>
            <a:prstDash val="solid"/>
          </a:ln>
        </p:spPr>
        <p:txBody>
          <a:bodyPr/>
          <a:p/>
        </p:txBody>
      </p:sp>
      <p:sp>
        <p:nvSpPr>
          <p:cNvPr id="7" name="Text 4"/>
          <p:cNvSpPr/>
          <p:nvPr/>
        </p:nvSpPr>
        <p:spPr>
          <a:xfrm>
            <a:off x="457200" y="457200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192 unique Sn-Se-based compounds, 132 composition features</a:t>
            </a:r>
            <a:endParaRPr lang="en-US" sz="1200" dirty="0"/>
          </a:p>
        </p:txBody>
      </p:sp>
      <p:sp>
        <p:nvSpPr>
          <p:cNvPr id="8" name="Text 5"/>
          <p:cNvSpPr/>
          <p:nvPr/>
        </p:nvSpPr>
        <p:spPr>
          <a:xfrm>
            <a:off x="685800" y="4937760"/>
            <a:ext cx="10789920" cy="1371600"/>
          </a:xfrm>
          <a:prstGeom prst="rect">
            <a:avLst/>
          </a:prstGeom>
          <a:noFill/>
          <a:ln/>
        </p:spPr>
        <p:txBody>
          <a:bodyPr wrap="square" lIns="0" tIns="0" rIns="0" bIns="0" rtlCol="0" anchor="t"/>
          <a:lstStyle/>
          <a:p>
            <a:pPr indent="0" marL="0">
              <a:buNone/>
            </a:pPr>
            <a:r>
              <a:rPr lang="en-US" sz="1500" i="1" dirty="0">
                <a:solidFill>
                  <a:srgbClr val="4A5D68"/>
                </a:solidFill>
                <a:latin typeface="Calibri" pitchFamily="34" charset="0"/>
                <a:ea typeface="Calibri" pitchFamily="34" charset="-122"/>
                <a:cs typeface="Calibri" pitchFamily="34" charset="-120"/>
              </a:rPr>
              <a:t>We started with 220 raw results from the database and removed duplicate entries and any compound missing a band gap value, leaving 192 unique compounds. Each formula was turned into 132 numeric “features” — things like average electronegativity, atomic size, and valence electron count — using a tool called matminer. No crystal structure information was used, only the formula, which keeps the whole pipeline fast and simple. About seven in ten compounds are insulators and three in ten are metals; this imbalance is why we check model performance carefully rather than trusting accuracy alone.</a:t>
            </a:r>
            <a:endParaRPr lang="en-US" sz="1500" dirty="0"/>
          </a:p>
        </p:txBody>
      </p:sp>
      <p:sp>
        <p:nvSpPr>
          <p:cNvPr id="9" name="Text 6"/>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0" name="Text 7"/>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Method</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6" name="Shape 4"/>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7" name="Text 5"/>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Classification: Logistic Regression vs. Random Forest (300 trees). Regression: Random Forest (300 trees) on insulators only.</a:t>
            </a:r>
            <a:endParaRPr lang="en-US" sz="1200" dirty="0"/>
          </a:p>
        </p:txBody>
      </p:sp>
      <p:sp>
        <p:nvSpPr>
          <p:cNvPr id="8" name="Text 6"/>
          <p:cNvSpPr/>
          <p:nvPr/>
        </p:nvSpPr>
        <p:spPr>
          <a:xfrm>
            <a:off x="685800" y="2011680"/>
            <a:ext cx="10789920" cy="4251960"/>
          </a:xfrm>
          <a:prstGeom prst="rect">
            <a:avLst/>
          </a:prstGeom>
          <a:noFill/>
          <a:ln/>
        </p:spPr>
        <p:txBody>
          <a:bodyPr wrap="square" lIns="0" tIns="0" rIns="0" bIns="0" rtlCol="0" anchor="t"/>
          <a:lstStyle/>
          <a:p>
            <a:pPr indent="0" marL="0">
              <a:buNone/>
            </a:pPr>
            <a:r>
              <a:rPr lang="en-US" sz="1500" i="1" dirty="0">
                <a:solidFill>
                  <a:srgbClr val="4A5D68"/>
                </a:solidFill>
                <a:latin typeface="Calibri" pitchFamily="34" charset="0"/>
                <a:ea typeface="Calibri" pitchFamily="34" charset="-122"/>
                <a:cs typeface="Calibri" pitchFamily="34" charset="-120"/>
              </a:rPr>
              <a:t>We build two models. First, a classifier decides whether a compound is a metal or an insulator — we compare a simple method (Logistic Regression) against a more flexible one (Random Forest, 300 decision trees) to see which works better. Second, for compounds that are insulators, a Random Forest regressor predicts the actual band gap value in electron-volts (eV). Random Forest is a good default for this kind of chemistry data because it captures curved, non-obvious relationships between composition and properties, and it tells us afterward which features mattered most. Because we only have a few hundred compounds compared to 132 features, testing on a single random split can give a misleading score. Instead we use 5-fold cross-validation: the data is split into 5 groups, the model trains on 4 and is tested on the 1 left out, repeated 5 times so every compound gets tested once — giving a far more trustworthy average score.</a:t>
            </a:r>
            <a:endParaRPr lang="en-US" sz="1500" dirty="0"/>
          </a:p>
        </p:txBody>
      </p:sp>
      <p:sp>
        <p:nvSpPr>
          <p:cNvPr id="9" name="Text 7"/>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0" name="Text 8"/>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Results — Model Performance</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pic>
        <p:nvPicPr>
          <p:cNvPr id="5" name="Image 0" descr="fig_predictions.png">    </p:cNvPr>
          <p:cNvPicPr>
            <a:picLocks noChangeAspect="1"/>
          </p:cNvPicPr>
          <p:nvPr/>
        </p:nvPicPr>
        <p:blipFill>
          <a:blip r:embed="rId1"/>
          <a:stretch>
            <a:fillRect/>
          </a:stretch>
        </p:blipFill>
        <p:spPr>
          <a:xfrm>
            <a:off x="548640" y="1600200"/>
            <a:ext cx="4297680" cy="429768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12080" y="1920240"/>
          <a:ext cx="5669280" cy="914400"/>
        </p:xfrm>
        <a:graphic>
          <a:graphicData uri="http://schemas.openxmlformats.org/drawingml/2006/table">
            <a:tbl>
              <a:tblPr/>
              <a:tblGrid>
                <a:gridCol w="2743200"/>
                <a:gridCol w="2926080"/>
              </a:tblGrid>
              <a:tr h="548640">
                <a:tc>
                  <a:txBody>
                    <a:bodyPr/>
                    <a:lstStyle/>
                    <a:p>
                      <a:r>
                        <a:t>Classification Accuracy</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80.2%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r>
                        <a:t>Regression MAE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0.357 eV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r>
                        <a:t>Regression R²</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0.401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Text 3"/>
          <p:cNvSpPr/>
          <p:nvPr/>
        </p:nvSpPr>
        <p:spPr>
          <a:xfrm>
            <a:off x="5212080" y="3840480"/>
            <a:ext cx="5852160" cy="914400"/>
          </a:xfrm>
          <a:prstGeom prst="rect">
            <a:avLst/>
          </a:prstGeom>
          <a:noFill/>
          <a:ln/>
        </p:spPr>
        <p:txBody>
          <a:bodyPr wrap="square" lIns="0" tIns="0" rIns="0" bIns="0" rtlCol="0" anchor="ctr"/>
          <a:lstStyle/>
          <a:p>
            <a:pPr indent="0" marL="0">
              <a:buNone/>
            </a:pPr>
            <a:r>
              <a:rPr lang="en-US" sz="1600" i="1" dirty="0">
                <a:solidFill>
                  <a:srgbClr val="595959"/>
                </a:solidFill>
                <a:latin typeface="Calibri" pitchFamily="34" charset="0"/>
                <a:ea typeface="Calibri" pitchFamily="34" charset="-122"/>
                <a:cs typeface="Calibri" pitchFamily="34" charset="-120"/>
              </a:rPr>
              <a:t>Random Forest reaches 80.2% classification accuracy and explains ~40% of band-gap variance (R²) from composition alone — a fast screen, not a DFT replacement.</a:t>
            </a:r>
            <a:endParaRPr lang="en-US" sz="1600" dirty="0"/>
          </a:p>
        </p:txBody>
      </p:sp>
      <p:sp>
        <p:nvSpPr>
          <p:cNvPr id="8"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9"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Results — What Drives Band Gap?</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6" name="Text 3"/>
          <p:cNvSpPr/>
          <p:nvPr/>
        </p:nvSpPr>
        <p:spPr>
          <a:xfrm>
            <a:off x="640080" y="5989320"/>
            <a:ext cx="10881360" cy="457200"/>
          </a:xfrm>
          <a:prstGeom prst="rect">
            <a:avLst/>
          </a:prstGeom>
          <a:noFill/>
          <a:ln/>
        </p:spPr>
        <p:txBody>
          <a:bodyPr wrap="square" lIns="0" tIns="0" rIns="0" bIns="0" rtlCol="0" anchor="ctr"/>
          <a:lstStyle/>
          <a:p>
            <a:pPr algn="ctr" indent="0" marL="0">
              <a:buNone/>
            </a:pPr>
            <a:r>
              <a:rPr lang="en-US" sz="1500" i="1" dirty="0">
                <a:solidFill>
                  <a:srgbClr val="595959"/>
                </a:solidFill>
                <a:latin typeface="Calibri" pitchFamily="34" charset="0"/>
                <a:ea typeface="Calibri" pitchFamily="34" charset="-122"/>
                <a:cs typeface="Calibri" pitchFamily="34" charset="-120"/>
              </a:rPr>
              <a:t>Electronegativity-related descriptors — especially the range of electronegativity across a compound's elements — emerge as the most influential, consistent with known SnSe band-engineering mechanisms.</a:t>
            </a:r>
            <a:endParaRPr lang="en-US" sz="1500" dirty="0"/>
          </a:p>
        </p:txBody>
      </p:sp>
      <p:sp>
        <p:nvSpPr>
          <p:cNvPr id="7"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8"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6 / 7</a:t>
            </a:r>
            <a:endParaRPr lang="en-US" sz="1000" dirty="0"/>
          </a:p>
        </p:txBody>
      </p:sp>
      <p:pic>
        <p:nvPicPr>
          <p:cNvPr id="9" name="Picture 8" descr="fig_importance.png"/>
          <p:cNvPicPr>
            <a:picLocks noChangeAspect="1"/>
          </p:cNvPicPr>
          <p:nvPr/>
        </p:nvPicPr>
        <p:blipFill>
          <a:blip r:embed="rId6"/>
          <a:stretch>
            <a:fillRect/>
          </a:stretch>
        </p:blipFill>
        <p:spPr>
          <a:xfrm>
            <a:off x="3129515" y="1858304"/>
            <a:ext cx="5902489" cy="37814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Takeaway &amp; Limitations</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7" name="Shape 5"/>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8" name="Text 6"/>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Using only the chemical formula, our Random Forest model correctly labels a compound as metal or insulator about 80% of the time, and predicts the band gap of insulators to within about 0.36 eV on average — not perfect, but a genuinely useful first filter for narrowing down candidates before expensive DFT calculations or lab experiments.</a:t>
            </a:r>
            <a:endParaRPr lang="en-US" sz="1200" dirty="0"/>
          </a:p>
        </p:txBody>
      </p:sp>
      <p:sp>
        <p:nvSpPr>
          <p:cNvPr id="9" name="Text 7"/>
          <p:cNvSpPr/>
          <p:nvPr/>
        </p:nvSpPr>
        <p:spPr>
          <a:xfrm>
            <a:off x="685800" y="2240280"/>
            <a:ext cx="10789920" cy="4023360"/>
          </a:xfrm>
          <a:prstGeom prst="rect">
            <a:avLst/>
          </a:prstGeom>
          <a:noFill/>
          <a:ln/>
        </p:spPr>
        <p:txBody>
          <a:bodyPr wrap="square" lIns="0" tIns="0" rIns="0" bIns="0" rtlCol="0" anchor="t"/>
          <a:lstStyle/>
          <a:p>
            <a:pPr indent="0" marL="0">
              <a:buNone/>
            </a:pPr>
            <a:r>
              <a:rPr lang="en-US" sz="1600" i="1" dirty="0">
                <a:solidFill>
                  <a:srgbClr val="4A5D68"/>
                </a:solidFill>
                <a:latin typeface="Calibri" pitchFamily="34" charset="0"/>
                <a:ea typeface="Calibri" pitchFamily="34" charset="-122"/>
                <a:cs typeface="Calibri" pitchFamily="34" charset="-120"/>
              </a:rPr>
              <a:t>Limitations: the model only sees the chemical formula, so it cannot tell apart two compounds with the same formula but different crystal structures — SnSe's everyday room-temperature form and its high-temperature form get treated as identical, even though their band gaps differ. The dataset is also fairly small (about 190 compounds) compared to the 132 numbers describing each one, so results can vary between different train/test splits — which is why we relied on 5-fold cross-validation rather than a single split. A natural next step: add structural information, or gather more compounds from the wider family of similar materials (SnS, SnTe, PbSe, and others).  |  Code &amp; notebook: github.com/ShahiDDU/snse-bandgap-ml-capstone</a:t>
            </a:r>
            <a:endParaRPr lang="en-US" sz="1600" dirty="0"/>
          </a:p>
        </p:txBody>
      </p:sp>
      <p:sp>
        <p:nvSpPr>
          <p:cNvPr id="10" name="Text 8"/>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1" name="Text 9"/>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7 / 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2026-07-15T06:42:53Z</dcterms:created>
  <dcterms:modified xsi:type="dcterms:W3CDTF">2026-07-15T06:42:53Z</dcterms:modified>
</cp:coreProperties>
</file>