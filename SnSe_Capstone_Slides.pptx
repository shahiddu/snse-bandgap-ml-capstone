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Predicting Band Gaps of SnSe-Based Materials
from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E8A62A"/>
                </a:solidFill>
                <a:latin typeface="Calibri"/>
              </a:rPr>
              <a:t>Capstone Project — Machine Learning for Materials and Metallurgical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UGC Malaviya Mission Teacher Training Programme, 13–18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Dr. Prashant Shahi — Group Leader &amp; Modeling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Mrs. Akanksha — Data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Dr. Santosh Kumar — Preprocessing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Mrs. Alfiya Mahmood — Report Lead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Dr. Nagendra Kumar Singh — Presentation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8A62A"/>
                </a:solidFill>
              </a:rPr>
              <a:t>■  </a:t>
            </a:r>
            <a:r>
              <a:rPr sz="2000">
                <a:solidFill>
                  <a:srgbClr val="222A3A"/>
                </a:solidFill>
                <a:latin typeface="Calibri"/>
              </a:rPr>
              <a:t>SnSe is among the best-performing thermoelectric materials found in the last decade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8A62A"/>
                </a:solidFill>
              </a:rPr>
              <a:t>■  </a:t>
            </a:r>
            <a:r>
              <a:rPr sz="2000">
                <a:solidFill>
                  <a:srgbClr val="222A3A"/>
                </a:solidFill>
                <a:latin typeface="Calibri"/>
              </a:rPr>
              <a:t>Its narrow band gap is doping/alloying-tunable — “band engineering” is an active research question (Pb, Ge, S, Te, Ag, Na, halide dopants)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8A62A"/>
                </a:solidFill>
              </a:rPr>
              <a:t>■  </a:t>
            </a:r>
            <a:r>
              <a:rPr sz="2000">
                <a:solidFill>
                  <a:srgbClr val="222A3A"/>
                </a:solidFill>
                <a:latin typeface="Calibri"/>
              </a:rPr>
              <a:t>DFT is accurate but expensive — can composition alone give a fast first-pass screen?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37760"/>
            <a:ext cx="612648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5760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Question: from formula alone, can ML predict (1) metal vs. insulator, and (2) band gap magnitude, for Sn-Se-based compounds?</a:t>
            </a:r>
          </a:p>
        </p:txBody>
      </p:sp>
      <p:pic>
        <p:nvPicPr>
          <p:cNvPr id="8" name="Picture 7" descr="bandgap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75104"/>
            <a:ext cx="4663440" cy="3730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Source: Materials Project API, queried live for compounds containing both Sn and Se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220 raw entries → 192 after de-duplication / cleaning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132 Magpie composition descriptors (matminer) — formula only, no crystal 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E8A62A"/>
                </a:solidFill>
              </a:rPr>
              <a:t>■  </a:t>
            </a:r>
            <a:r>
              <a:rPr sz="1900">
                <a:solidFill>
                  <a:srgbClr val="222A3A"/>
                </a:solidFill>
                <a:latin typeface="Calibri"/>
              </a:rPr>
              <a:t>Class balance: 136 insulators / 56 metals (71% / 29%)</a:t>
            </a:r>
          </a:p>
        </p:txBody>
      </p:sp>
      <p:pic>
        <p:nvPicPr>
          <p:cNvPr id="6" name="Picture 5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46304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pic>
        <p:nvPicPr>
          <p:cNvPr id="5" name="Picture 4" descr="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60" y="1371600"/>
            <a:ext cx="111760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2918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E86AB"/>
                </a:solidFill>
                <a:latin typeface="Calibri"/>
              </a:rPr>
              <a:t>Stage 1 —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E8A62A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Logistic Regression vs. Random Forest (300 trees)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E8A62A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Target: metal (gap = 0) vs. insulator (gap &gt;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2918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8A62A"/>
                </a:solidFill>
                <a:latin typeface="Calibri"/>
              </a:rPr>
              <a:t>Stage 2 —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749039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2E86AB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Random Forest on the 136 insulators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2E86AB"/>
                </a:solidFill>
              </a:rPr>
              <a:t>■  </a:t>
            </a:r>
            <a:r>
              <a:rPr sz="1600">
                <a:solidFill>
                  <a:srgbClr val="222A3A"/>
                </a:solidFill>
                <a:latin typeface="Calibri"/>
              </a:rPr>
              <a:t>Predicts band gap (eV) from same 132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394960"/>
            <a:ext cx="11247120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Small dataset relative to feature count → 5-fold cross-validation used for headline metrics (not a single train/test split). Fixed seed (42)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Results: Classification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1B2A4A"/>
                </a:solidFill>
                <a:latin typeface="Calibri"/>
              </a:rPr>
              <a:t>80.2%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Random Forest
5-fold CV accuracy (±3.7%)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E86AB"/>
                </a:solidFill>
                <a:latin typeface="Calibri"/>
              </a:rPr>
              <a:t>78.1%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Logistic Regression
5-fold CV accuracy (±6.5%)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Random Forest is both more accurate and more stable across folds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Confusion matrix (right) shows most errors on the minority class (metals, 56/192)</a:t>
            </a:r>
          </a:p>
        </p:txBody>
      </p:sp>
      <p:pic>
        <p:nvPicPr>
          <p:cNvPr id="12" name="Picture 11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1732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Results: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1B2A4A"/>
                </a:solidFill>
                <a:latin typeface="Calibri"/>
              </a:rPr>
              <a:t>0.357 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5-fold CV Mean Absolute Error (±0.072)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463040"/>
            <a:ext cx="26517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72768"/>
            <a:ext cx="26517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E86AB"/>
                </a:solidFill>
                <a:latin typeface="Calibri"/>
              </a:rPr>
              <a:t>0.401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7744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222A3A"/>
                </a:solidFill>
                <a:latin typeface="Calibri"/>
              </a:rPr>
              <a:t>5-fold CV R² (±0.168)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Band gaps in this set span ~0–4.4 eV (median ≈ 0.6 eV)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Modest but genuine signal from composition alone — single-split numbers were less reliable (small N)</a:t>
            </a:r>
          </a:p>
        </p:txBody>
      </p:sp>
      <p:pic>
        <p:nvPicPr>
          <p:cNvPr id="12" name="Picture 11" descr="scatter_true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1732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0058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Composition-only Random Forest reaches ~80% accuracy classifying metal vs. insulator, and ~0.36 eV MAE predicting band gap — a useful fast screen, not a DFT replacement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Top predictive feature: range of electronegativity — consistent with known SnSe band-engineering mechanisms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Limitation: composition-only features can't distinguish polymorphs (e.g. SnSe's room-temp vs. high-T phase)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E8A62A"/>
                </a:solidFill>
              </a:rPr>
              <a:t>■  </a:t>
            </a:r>
            <a:r>
              <a:rPr sz="1700">
                <a:solidFill>
                  <a:srgbClr val="222A3A"/>
                </a:solidFill>
                <a:latin typeface="Calibri"/>
              </a:rPr>
              <a:t>Next step: add structural features, or extend to the full IV-VI chalcogenide family for more data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76994"/>
            <a:ext cx="4937760" cy="3526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2E86AB"/>
                </a:solidFill>
                <a:latin typeface="Calibri"/>
              </a:rPr>
              <a:t>Code &amp; notebook: github.com/ShahiDDU/snse-bandgap-ml-capstone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